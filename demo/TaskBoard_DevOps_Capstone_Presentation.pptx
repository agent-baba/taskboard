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97280" y="1097280"/>
            <a:ext cx="9997135" cy="46634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45920" y="1463040"/>
            <a:ext cx="8899855" cy="3931920"/>
          </a:xfrm>
          <a:prstGeom prst="rect">
            <a:avLst/>
          </a:prstGeom>
          <a:noFill/>
        </p:spPr>
        <p:txBody>
          <a:bodyPr wrap="square">
            <a:spAutoFit/>
          </a:bodyPr>
          <a:lstStyle/>
          <a:p>
            <a:pPr>
              <a:defRPr sz="1400" b="1">
                <a:solidFill>
                  <a:srgbClr val="06B6D4"/>
                </a:solidFill>
              </a:defRPr>
            </a:pPr>
            <a:r>
              <a:t>DEVOPS CAPSTONE FINAL PRESENTATION</a:t>
            </a:r>
          </a:p>
          <a:p>
            <a:pPr>
              <a:spcBef>
                <a:spcPts val="1000"/>
              </a:spcBef>
              <a:defRPr sz="3200" b="1">
                <a:solidFill>
                  <a:srgbClr val="F8FAFC"/>
                </a:solidFill>
              </a:defRPr>
            </a:pPr>
            <a:r>
              <a:t>TaskBoard: Cloud-Native DevOps Architecture</a:t>
            </a:r>
          </a:p>
          <a:p>
            <a:pPr>
              <a:spcBef>
                <a:spcPts val="800"/>
              </a:spcBef>
              <a:defRPr sz="1600">
                <a:solidFill>
                  <a:srgbClr val="94A3B8"/>
                </a:solidFill>
              </a:defRPr>
            </a:pPr>
            <a:r>
              <a:t>End-to-End Delivery: FastAPI, React, CI/CD, DevSecOps, AWS EKS, Helm &amp; Prometheus/Grafana</a:t>
            </a:r>
          </a:p>
          <a:p>
            <a:br/>
            <a:pPr>
              <a:spcBef>
                <a:spcPts val="1400"/>
              </a:spcBef>
              <a:defRPr sz="1400">
                <a:solidFill>
                  <a:srgbClr val="10B981"/>
                </a:solidFill>
              </a:defRPr>
            </a:pPr>
            <a:r>
              <a:t>• Author: Krushna Sonawane</a:t>
            </a:r>
            <a:br/>
            <a:r>
              <a:t>• GitHub Repository: github.com/AGENT-BABA/TaskBoard</a:t>
            </a:r>
            <a:br/>
            <a:r>
              <a:t>• Cloud Infrastructure: AWS EKS (Sydney ap-southeast-2)</a:t>
            </a:r>
            <a:br/>
            <a:r>
              <a:t>• Environment: Docker Compose, Kubernetes &amp; GitOps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7315200" cy="320040"/>
          </a:xfrm>
          <a:prstGeom prst="rect">
            <a:avLst/>
          </a:prstGeom>
          <a:noFill/>
        </p:spPr>
        <p:txBody>
          <a:bodyPr wrap="square">
            <a:spAutoFit/>
          </a:bodyPr>
          <a:lstStyle/>
          <a:p>
            <a:pPr>
              <a:defRPr sz="1100" b="1">
                <a:solidFill>
                  <a:srgbClr val="06B6D4"/>
                </a:solidFill>
              </a:defRPr>
            </a:pPr>
            <a:r>
              <a:t>OVERVIEW • FULL DELIVERY PIPELINE</a:t>
            </a:r>
          </a:p>
        </p:txBody>
      </p:sp>
      <p:sp>
        <p:nvSpPr>
          <p:cNvPr id="4" name="TextBox 3"/>
          <p:cNvSpPr txBox="1"/>
          <p:nvPr/>
        </p:nvSpPr>
        <p:spPr>
          <a:xfrm>
            <a:off x="548640" y="594360"/>
            <a:ext cx="11064240" cy="548640"/>
          </a:xfrm>
          <a:prstGeom prst="rect">
            <a:avLst/>
          </a:prstGeom>
          <a:noFill/>
        </p:spPr>
        <p:txBody>
          <a:bodyPr wrap="square">
            <a:spAutoFit/>
          </a:bodyPr>
          <a:lstStyle/>
          <a:p>
            <a:pPr>
              <a:defRPr sz="2400" b="1">
                <a:solidFill>
                  <a:srgbClr val="F8FAFC"/>
                </a:solidFill>
              </a:defRPr>
            </a:pPr>
            <a:r>
              <a:t>End-to-End DevOps Lifecycle Architecture</a:t>
            </a:r>
          </a:p>
        </p:txBody>
      </p:sp>
      <p:sp>
        <p:nvSpPr>
          <p:cNvPr id="5" name="Rectangle 4"/>
          <p:cNvSpPr/>
          <p:nvPr/>
        </p:nvSpPr>
        <p:spPr>
          <a:xfrm>
            <a:off x="548640" y="1188720"/>
            <a:ext cx="1109441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371600"/>
            <a:ext cx="3474720" cy="23774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508760"/>
            <a:ext cx="3200400" cy="2103120"/>
          </a:xfrm>
          <a:prstGeom prst="rect">
            <a:avLst/>
          </a:prstGeom>
          <a:noFill/>
        </p:spPr>
        <p:txBody>
          <a:bodyPr wrap="square">
            <a:spAutoFit/>
          </a:bodyPr>
          <a:lstStyle/>
          <a:p>
            <a:pPr>
              <a:defRPr sz="1500" b="1">
                <a:solidFill>
                  <a:srgbClr val="06B6D4"/>
                </a:solidFill>
              </a:defRPr>
            </a:pPr>
            <a:r>
              <a:t>1. Development</a:t>
            </a:r>
          </a:p>
          <a:p>
            <a:pPr>
              <a:spcBef>
                <a:spcPts val="600"/>
              </a:spcBef>
              <a:defRPr sz="1200">
                <a:solidFill>
                  <a:srgbClr val="F8FAFC"/>
                </a:solidFill>
              </a:defRPr>
            </a:pPr>
            <a:r>
              <a:t>FastAPI + React + PostgreSQL</a:t>
            </a:r>
            <a:br/>
            <a:r>
              <a:t>• Alembic DB Migrations</a:t>
            </a:r>
            <a:br/>
            <a:r>
              <a:t>• Multi-stage Dockerfiles</a:t>
            </a:r>
            <a:br/>
            <a:r>
              <a:t>• Non-root runtime</a:t>
            </a:r>
          </a:p>
        </p:txBody>
      </p:sp>
      <p:sp>
        <p:nvSpPr>
          <p:cNvPr id="8" name="Rounded Rectangle 7"/>
          <p:cNvSpPr/>
          <p:nvPr/>
        </p:nvSpPr>
        <p:spPr>
          <a:xfrm>
            <a:off x="4343400" y="1371600"/>
            <a:ext cx="3474720" cy="23774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60" y="1508760"/>
            <a:ext cx="3200400" cy="2103120"/>
          </a:xfrm>
          <a:prstGeom prst="rect">
            <a:avLst/>
          </a:prstGeom>
          <a:noFill/>
        </p:spPr>
        <p:txBody>
          <a:bodyPr wrap="square">
            <a:spAutoFit/>
          </a:bodyPr>
          <a:lstStyle/>
          <a:p>
            <a:pPr>
              <a:defRPr sz="1500" b="1">
                <a:solidFill>
                  <a:srgbClr val="06B6D4"/>
                </a:solidFill>
              </a:defRPr>
            </a:pPr>
            <a:r>
              <a:t>2. Testing (CI)</a:t>
            </a:r>
          </a:p>
          <a:p>
            <a:pPr>
              <a:spcBef>
                <a:spcPts val="600"/>
              </a:spcBef>
              <a:defRPr sz="1200">
                <a:solidFill>
                  <a:srgbClr val="F8FAFC"/>
                </a:solidFill>
              </a:defRPr>
            </a:pPr>
            <a:r>
              <a:t>Automated Pytest Suite</a:t>
            </a:r>
            <a:br/>
            <a:r>
              <a:t>• 8/8 tests passing</a:t>
            </a:r>
            <a:br/>
            <a:r>
              <a:t>• SQLite isolated test DB</a:t>
            </a:r>
            <a:br/>
            <a:r>
              <a:t>• Strict code quality gate</a:t>
            </a:r>
          </a:p>
        </p:txBody>
      </p:sp>
      <p:sp>
        <p:nvSpPr>
          <p:cNvPr id="10" name="Rounded Rectangle 9"/>
          <p:cNvSpPr/>
          <p:nvPr/>
        </p:nvSpPr>
        <p:spPr>
          <a:xfrm>
            <a:off x="8138160" y="1371600"/>
            <a:ext cx="3474720" cy="23774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75320" y="1508760"/>
            <a:ext cx="3200400" cy="2103120"/>
          </a:xfrm>
          <a:prstGeom prst="rect">
            <a:avLst/>
          </a:prstGeom>
          <a:noFill/>
        </p:spPr>
        <p:txBody>
          <a:bodyPr wrap="square">
            <a:spAutoFit/>
          </a:bodyPr>
          <a:lstStyle/>
          <a:p>
            <a:pPr>
              <a:defRPr sz="1500" b="1">
                <a:solidFill>
                  <a:srgbClr val="06B6D4"/>
                </a:solidFill>
              </a:defRPr>
            </a:pPr>
            <a:r>
              <a:t>3. DevSecOps</a:t>
            </a:r>
          </a:p>
          <a:p>
            <a:pPr>
              <a:spcBef>
                <a:spcPts val="600"/>
              </a:spcBef>
              <a:defRPr sz="1200">
                <a:solidFill>
                  <a:srgbClr val="F8FAFC"/>
                </a:solidFill>
              </a:defRPr>
            </a:pPr>
            <a:r>
              <a:t>GitHub Actions Pipeline</a:t>
            </a:r>
            <a:br/>
            <a:r>
              <a:t>• Trivy vulnerability scans</a:t>
            </a:r>
            <a:br/>
            <a:r>
              <a:t>• Starlette &amp; Alpine patches</a:t>
            </a:r>
            <a:br/>
            <a:r>
              <a:t>• GHCR SHA image tagging</a:t>
            </a:r>
          </a:p>
        </p:txBody>
      </p:sp>
      <p:sp>
        <p:nvSpPr>
          <p:cNvPr id="12" name="Rounded Rectangle 11"/>
          <p:cNvSpPr/>
          <p:nvPr/>
        </p:nvSpPr>
        <p:spPr>
          <a:xfrm>
            <a:off x="548640" y="3931920"/>
            <a:ext cx="3474720" cy="23774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4069080"/>
            <a:ext cx="3200400" cy="2103120"/>
          </a:xfrm>
          <a:prstGeom prst="rect">
            <a:avLst/>
          </a:prstGeom>
          <a:noFill/>
        </p:spPr>
        <p:txBody>
          <a:bodyPr wrap="square">
            <a:spAutoFit/>
          </a:bodyPr>
          <a:lstStyle/>
          <a:p>
            <a:pPr>
              <a:defRPr sz="1500" b="1">
                <a:solidFill>
                  <a:srgbClr val="06B6D4"/>
                </a:solidFill>
              </a:defRPr>
            </a:pPr>
            <a:r>
              <a:t>4. Infrastructure</a:t>
            </a:r>
          </a:p>
          <a:p>
            <a:pPr>
              <a:spcBef>
                <a:spcPts val="600"/>
              </a:spcBef>
              <a:defRPr sz="1200">
                <a:solidFill>
                  <a:srgbClr val="F8FAFC"/>
                </a:solidFill>
              </a:defRPr>
            </a:pPr>
            <a:r>
              <a:t>Terraform AWS (IaC)</a:t>
            </a:r>
            <a:br/>
            <a:r>
              <a:t>• Custom VPC &amp; Subnets</a:t>
            </a:r>
            <a:br/>
            <a:r>
              <a:t>• EKS Cluster &amp; Node Group</a:t>
            </a:r>
            <a:br/>
            <a:r>
              <a:t>• Clean teardown ($0 leak)</a:t>
            </a:r>
          </a:p>
        </p:txBody>
      </p:sp>
      <p:sp>
        <p:nvSpPr>
          <p:cNvPr id="14" name="Rounded Rectangle 13"/>
          <p:cNvSpPr/>
          <p:nvPr/>
        </p:nvSpPr>
        <p:spPr>
          <a:xfrm>
            <a:off x="4343400" y="3931920"/>
            <a:ext cx="3474720" cy="23774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60" y="4069080"/>
            <a:ext cx="3200400" cy="2103120"/>
          </a:xfrm>
          <a:prstGeom prst="rect">
            <a:avLst/>
          </a:prstGeom>
          <a:noFill/>
        </p:spPr>
        <p:txBody>
          <a:bodyPr wrap="square">
            <a:spAutoFit/>
          </a:bodyPr>
          <a:lstStyle/>
          <a:p>
            <a:pPr>
              <a:defRPr sz="1500" b="1">
                <a:solidFill>
                  <a:srgbClr val="06B6D4"/>
                </a:solidFill>
              </a:defRPr>
            </a:pPr>
            <a:r>
              <a:t>5. Kubernetes</a:t>
            </a:r>
          </a:p>
          <a:p>
            <a:pPr>
              <a:spcBef>
                <a:spcPts val="600"/>
              </a:spcBef>
              <a:defRPr sz="1200">
                <a:solidFill>
                  <a:srgbClr val="F8FAFC"/>
                </a:solidFill>
              </a:defRPr>
            </a:pPr>
            <a:r>
              <a:t>Helm Orchestration</a:t>
            </a:r>
            <a:br/>
            <a:r>
              <a:t>• 2x Pod High Availability</a:t>
            </a:r>
            <a:br/>
            <a:r>
              <a:t>• Ingress routing &amp; HPA</a:t>
            </a:r>
            <a:br/>
            <a:r>
              <a:t>• ClusterIP services</a:t>
            </a:r>
          </a:p>
        </p:txBody>
      </p:sp>
      <p:sp>
        <p:nvSpPr>
          <p:cNvPr id="16" name="Rounded Rectangle 15"/>
          <p:cNvSpPr/>
          <p:nvPr/>
        </p:nvSpPr>
        <p:spPr>
          <a:xfrm>
            <a:off x="8138160" y="3931920"/>
            <a:ext cx="3474720" cy="23774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5320" y="4069080"/>
            <a:ext cx="3200400" cy="2103120"/>
          </a:xfrm>
          <a:prstGeom prst="rect">
            <a:avLst/>
          </a:prstGeom>
          <a:noFill/>
        </p:spPr>
        <p:txBody>
          <a:bodyPr wrap="square">
            <a:spAutoFit/>
          </a:bodyPr>
          <a:lstStyle/>
          <a:p>
            <a:pPr>
              <a:defRPr sz="1500" b="1">
                <a:solidFill>
                  <a:srgbClr val="06B6D4"/>
                </a:solidFill>
              </a:defRPr>
            </a:pPr>
            <a:r>
              <a:t>6. Observability</a:t>
            </a:r>
          </a:p>
          <a:p>
            <a:pPr>
              <a:spcBef>
                <a:spcPts val="600"/>
              </a:spcBef>
              <a:defRPr sz="1200">
                <a:solidFill>
                  <a:srgbClr val="F8FAFC"/>
                </a:solidFill>
              </a:defRPr>
            </a:pPr>
            <a:r>
              <a:t>Prometheus &amp; Grafana</a:t>
            </a:r>
            <a:br/>
            <a:r>
              <a:t>• /metrics telemetry</a:t>
            </a:r>
            <a:br/>
            <a:r>
              <a:t>• Targets 100% UP</a:t>
            </a:r>
            <a:br/>
            <a:r>
              <a:t>• 4-panel Executive Dashboard</a:t>
            </a:r>
            <a:br/>
            <a:r>
              <a:t>• IaC auto-provisioning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7315200" cy="320040"/>
          </a:xfrm>
          <a:prstGeom prst="rect">
            <a:avLst/>
          </a:prstGeom>
          <a:noFill/>
        </p:spPr>
        <p:txBody>
          <a:bodyPr wrap="square">
            <a:spAutoFit/>
          </a:bodyPr>
          <a:lstStyle/>
          <a:p>
            <a:pPr>
              <a:defRPr sz="1100" b="1">
                <a:solidFill>
                  <a:srgbClr val="06B6D4"/>
                </a:solidFill>
              </a:defRPr>
            </a:pPr>
            <a:r>
              <a:t>DOCKER &amp; APPLICATION STACK</a:t>
            </a:r>
          </a:p>
        </p:txBody>
      </p:sp>
      <p:sp>
        <p:nvSpPr>
          <p:cNvPr id="4" name="TextBox 3"/>
          <p:cNvSpPr txBox="1"/>
          <p:nvPr/>
        </p:nvSpPr>
        <p:spPr>
          <a:xfrm>
            <a:off x="548640" y="594360"/>
            <a:ext cx="11064240" cy="548640"/>
          </a:xfrm>
          <a:prstGeom prst="rect">
            <a:avLst/>
          </a:prstGeom>
          <a:noFill/>
        </p:spPr>
        <p:txBody>
          <a:bodyPr wrap="square">
            <a:spAutoFit/>
          </a:bodyPr>
          <a:lstStyle/>
          <a:p>
            <a:pPr>
              <a:defRPr sz="2400" b="1">
                <a:solidFill>
                  <a:srgbClr val="F8FAFC"/>
                </a:solidFill>
              </a:defRPr>
            </a:pPr>
            <a:r>
              <a:t>Application Architecture &amp; Containerization</a:t>
            </a:r>
          </a:p>
        </p:txBody>
      </p:sp>
      <p:sp>
        <p:nvSpPr>
          <p:cNvPr id="5" name="Rectangle 4"/>
          <p:cNvSpPr/>
          <p:nvPr/>
        </p:nvSpPr>
        <p:spPr>
          <a:xfrm>
            <a:off x="548640" y="1188720"/>
            <a:ext cx="1109441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325880"/>
            <a:ext cx="3291840" cy="51206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463040"/>
            <a:ext cx="3017520" cy="4846320"/>
          </a:xfrm>
          <a:prstGeom prst="rect">
            <a:avLst/>
          </a:prstGeom>
          <a:noFill/>
        </p:spPr>
        <p:txBody>
          <a:bodyPr wrap="square">
            <a:spAutoFit/>
          </a:bodyPr>
          <a:lstStyle/>
          <a:p>
            <a:pPr>
              <a:defRPr sz="1300" b="1">
                <a:solidFill>
                  <a:srgbClr val="06B6D4"/>
                </a:solidFill>
              </a:defRPr>
            </a:pPr>
            <a:r>
              <a:t>Modern Tech Stack</a:t>
            </a:r>
            <a:br/>
            <a:r>
              <a:rPr b="0" sz="1150">
                <a:solidFill>
                  <a:srgbClr val="F8FAFC"/>
                </a:solidFill>
              </a:rPr>
              <a:t>FastAPI Python backend, React + Vite frontend, PostgreSQL 16 relational database with Alembic migrations.</a:t>
            </a:r>
          </a:p>
          <a:p>
            <a:pPr>
              <a:spcBef>
                <a:spcPts val="1800"/>
              </a:spcBef>
              <a:defRPr sz="1300" b="1">
                <a:solidFill>
                  <a:srgbClr val="06B6D4"/>
                </a:solidFill>
              </a:defRPr>
            </a:pPr>
            <a:r>
              <a:t>Container Security Hardening</a:t>
            </a:r>
            <a:br/>
            <a:r>
              <a:rPr b="0" sz="1150">
                <a:solidFill>
                  <a:srgbClr val="F8FAFC"/>
                </a:solidFill>
              </a:rPr>
              <a:t>Multi-stage Dockerfiles with separate build &amp; runtime stages. Non-root user execution (`appuser:10001`).</a:t>
            </a:r>
          </a:p>
          <a:p>
            <a:pPr>
              <a:spcBef>
                <a:spcPts val="1800"/>
              </a:spcBef>
              <a:defRPr sz="1300" b="1">
                <a:solidFill>
                  <a:srgbClr val="06B6D4"/>
                </a:solidFill>
              </a:defRPr>
            </a:pPr>
            <a:r>
              <a:t>Race Condition Solved</a:t>
            </a:r>
            <a:br/>
            <a:r>
              <a:rPr b="0" sz="1150">
                <a:solidFill>
                  <a:srgbClr val="F8FAFC"/>
                </a:solidFill>
              </a:rPr>
              <a:t>Solved PostgreSQL initdb startup delay using native Docker TCP healthcheck and `condition: service_healthy`.</a:t>
            </a:r>
          </a:p>
          <a:p>
            <a:pPr>
              <a:spcBef>
                <a:spcPts val="1800"/>
              </a:spcBef>
              <a:defRPr sz="1300" b="1">
                <a:solidFill>
                  <a:srgbClr val="06B6D4"/>
                </a:solidFill>
              </a:defRPr>
            </a:pPr>
            <a:r>
              <a:t>Local Orchestration</a:t>
            </a:r>
            <a:br/>
            <a:r>
              <a:rPr b="0" sz="1150">
                <a:solidFill>
                  <a:srgbClr val="F8FAFC"/>
                </a:solidFill>
              </a:rPr>
              <a:t>Single-command deployment with `docker compose up --build` connecting backend, frontend, postgres, and monitoring.</a:t>
            </a:r>
          </a:p>
        </p:txBody>
      </p:sp>
      <p:pic>
        <p:nvPicPr>
          <p:cNvPr id="8" name="Picture 7" descr="01-TaskBoard-DashBoard.jpg"/>
          <p:cNvPicPr>
            <a:picLocks noChangeAspect="1"/>
          </p:cNvPicPr>
          <p:nvPr/>
        </p:nvPicPr>
        <p:blipFill>
          <a:blip r:embed="rId2"/>
          <a:stretch>
            <a:fillRect/>
          </a:stretch>
        </p:blipFill>
        <p:spPr>
          <a:xfrm>
            <a:off x="3977639" y="1325880"/>
            <a:ext cx="7635240" cy="3771769"/>
          </a:xfrm>
          <a:prstGeom prst="rect">
            <a:avLst/>
          </a:prstGeom>
        </p:spPr>
      </p:pic>
      <p:sp>
        <p:nvSpPr>
          <p:cNvPr id="9" name="TextBox 8"/>
          <p:cNvSpPr txBox="1"/>
          <p:nvPr/>
        </p:nvSpPr>
        <p:spPr>
          <a:xfrm>
            <a:off x="3977639" y="6446520"/>
            <a:ext cx="7635240" cy="320040"/>
          </a:xfrm>
          <a:prstGeom prst="rect">
            <a:avLst/>
          </a:prstGeom>
          <a:noFill/>
        </p:spPr>
        <p:txBody>
          <a:bodyPr wrap="none">
            <a:spAutoFit/>
          </a:bodyPr>
          <a:lstStyle/>
          <a:p>
            <a:pPr algn="ctr">
              <a:defRPr sz="1000">
                <a:solidFill>
                  <a:srgbClr val="94A3B8"/>
                </a:solidFill>
              </a:defRPr>
            </a:pPr>
            <a:r>
              <a:t>Verified live TaskBoard UI running locally on localhost:3000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7315200" cy="320040"/>
          </a:xfrm>
          <a:prstGeom prst="rect">
            <a:avLst/>
          </a:prstGeom>
          <a:noFill/>
        </p:spPr>
        <p:txBody>
          <a:bodyPr wrap="square">
            <a:spAutoFit/>
          </a:bodyPr>
          <a:lstStyle/>
          <a:p>
            <a:pPr>
              <a:defRPr sz="1100" b="1">
                <a:solidFill>
                  <a:srgbClr val="06B6D4"/>
                </a:solidFill>
              </a:defRPr>
            </a:pPr>
            <a:r>
              <a:t>PYTEST &amp; SQLITE MOCK ISOLATION</a:t>
            </a:r>
          </a:p>
        </p:txBody>
      </p:sp>
      <p:sp>
        <p:nvSpPr>
          <p:cNvPr id="4" name="TextBox 3"/>
          <p:cNvSpPr txBox="1"/>
          <p:nvPr/>
        </p:nvSpPr>
        <p:spPr>
          <a:xfrm>
            <a:off x="548640" y="594360"/>
            <a:ext cx="11064240" cy="548640"/>
          </a:xfrm>
          <a:prstGeom prst="rect">
            <a:avLst/>
          </a:prstGeom>
          <a:noFill/>
        </p:spPr>
        <p:txBody>
          <a:bodyPr wrap="square">
            <a:spAutoFit/>
          </a:bodyPr>
          <a:lstStyle/>
          <a:p>
            <a:pPr>
              <a:defRPr sz="2400" b="1">
                <a:solidFill>
                  <a:srgbClr val="F8FAFC"/>
                </a:solidFill>
              </a:defRPr>
            </a:pPr>
            <a:r>
              <a:t>Automated Testing &amp; Code Quality Gates</a:t>
            </a:r>
          </a:p>
        </p:txBody>
      </p:sp>
      <p:sp>
        <p:nvSpPr>
          <p:cNvPr id="5" name="Rectangle 4"/>
          <p:cNvSpPr/>
          <p:nvPr/>
        </p:nvSpPr>
        <p:spPr>
          <a:xfrm>
            <a:off x="548640" y="1188720"/>
            <a:ext cx="1109441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325880"/>
            <a:ext cx="3291840" cy="51206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463040"/>
            <a:ext cx="3017520" cy="4846320"/>
          </a:xfrm>
          <a:prstGeom prst="rect">
            <a:avLst/>
          </a:prstGeom>
          <a:noFill/>
        </p:spPr>
        <p:txBody>
          <a:bodyPr wrap="square">
            <a:spAutoFit/>
          </a:bodyPr>
          <a:lstStyle/>
          <a:p>
            <a:pPr>
              <a:defRPr sz="1300" b="1">
                <a:solidFill>
                  <a:srgbClr val="06B6D4"/>
                </a:solidFill>
              </a:defRPr>
            </a:pPr>
            <a:r>
              <a:t>Pytest Suite</a:t>
            </a:r>
            <a:br/>
            <a:r>
              <a:rPr b="0" sz="1150">
                <a:solidFill>
                  <a:srgbClr val="F8FAFC"/>
                </a:solidFill>
              </a:rPr>
              <a:t>8 comprehensive unit and integration tests covering CRUD operations, health endpoints, and payload validation.</a:t>
            </a:r>
          </a:p>
          <a:p>
            <a:pPr>
              <a:spcBef>
                <a:spcPts val="1800"/>
              </a:spcBef>
              <a:defRPr sz="1300" b="1">
                <a:solidFill>
                  <a:srgbClr val="06B6D4"/>
                </a:solidFill>
              </a:defRPr>
            </a:pPr>
            <a:r>
              <a:t>Database Isolation</a:t>
            </a:r>
            <a:br/>
            <a:r>
              <a:rPr b="0" sz="1150">
                <a:solidFill>
                  <a:srgbClr val="F8FAFC"/>
                </a:solidFill>
              </a:rPr>
              <a:t>Tests use an in-memory SQLite database (`conftest.py`), preventing contamination of production database.</a:t>
            </a:r>
          </a:p>
          <a:p>
            <a:pPr>
              <a:spcBef>
                <a:spcPts val="1800"/>
              </a:spcBef>
              <a:defRPr sz="1300" b="1">
                <a:solidFill>
                  <a:srgbClr val="06B6D4"/>
                </a:solidFill>
              </a:defRPr>
            </a:pPr>
            <a:r>
              <a:t>Deterministic Results</a:t>
            </a:r>
            <a:br/>
            <a:r>
              <a:rPr b="0" sz="1150">
                <a:solidFill>
                  <a:srgbClr val="F8FAFC"/>
                </a:solidFill>
              </a:rPr>
              <a:t>100% test pass rate executed in ~0.6 seconds before any container build or push.</a:t>
            </a:r>
          </a:p>
          <a:p>
            <a:pPr>
              <a:spcBef>
                <a:spcPts val="1800"/>
              </a:spcBef>
              <a:defRPr sz="1300" b="1">
                <a:solidFill>
                  <a:srgbClr val="06B6D4"/>
                </a:solidFill>
              </a:defRPr>
            </a:pPr>
            <a:r>
              <a:t>CI Quality Gate</a:t>
            </a:r>
            <a:br/>
            <a:r>
              <a:rPr b="0" sz="1150">
                <a:solidFill>
                  <a:srgbClr val="F8FAFC"/>
                </a:solidFill>
              </a:rPr>
              <a:t>Pytest is integrated into GitHub Actions — any failing test immediately blocks the CI/CD pipeline.</a:t>
            </a:r>
          </a:p>
        </p:txBody>
      </p:sp>
      <p:pic>
        <p:nvPicPr>
          <p:cNvPr id="8" name="Picture 7" descr="02-pytest-passing.jpg"/>
          <p:cNvPicPr>
            <a:picLocks noChangeAspect="1"/>
          </p:cNvPicPr>
          <p:nvPr/>
        </p:nvPicPr>
        <p:blipFill>
          <a:blip r:embed="rId2"/>
          <a:stretch>
            <a:fillRect/>
          </a:stretch>
        </p:blipFill>
        <p:spPr>
          <a:xfrm>
            <a:off x="3977639" y="1325880"/>
            <a:ext cx="7635240" cy="3893573"/>
          </a:xfrm>
          <a:prstGeom prst="rect">
            <a:avLst/>
          </a:prstGeom>
        </p:spPr>
      </p:pic>
      <p:sp>
        <p:nvSpPr>
          <p:cNvPr id="9" name="TextBox 8"/>
          <p:cNvSpPr txBox="1"/>
          <p:nvPr/>
        </p:nvSpPr>
        <p:spPr>
          <a:xfrm>
            <a:off x="3977639" y="6446520"/>
            <a:ext cx="7635240" cy="320040"/>
          </a:xfrm>
          <a:prstGeom prst="rect">
            <a:avLst/>
          </a:prstGeom>
          <a:noFill/>
        </p:spPr>
        <p:txBody>
          <a:bodyPr wrap="none">
            <a:spAutoFit/>
          </a:bodyPr>
          <a:lstStyle/>
          <a:p>
            <a:pPr algn="ctr">
              <a:defRPr sz="1000">
                <a:solidFill>
                  <a:srgbClr val="94A3B8"/>
                </a:solidFill>
              </a:defRPr>
            </a:pPr>
            <a:r>
              <a:t>Pytest terminal output showing 8/8 tests passing in SQLite test DB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7315200" cy="320040"/>
          </a:xfrm>
          <a:prstGeom prst="rect">
            <a:avLst/>
          </a:prstGeom>
          <a:noFill/>
        </p:spPr>
        <p:txBody>
          <a:bodyPr wrap="square">
            <a:spAutoFit/>
          </a:bodyPr>
          <a:lstStyle/>
          <a:p>
            <a:pPr>
              <a:defRPr sz="1100" b="1">
                <a:solidFill>
                  <a:srgbClr val="06B6D4"/>
                </a:solidFill>
              </a:defRPr>
            </a:pPr>
            <a:r>
              <a:t>GITHUB ACTIONS, TRIVY &amp; GHCR</a:t>
            </a:r>
          </a:p>
        </p:txBody>
      </p:sp>
      <p:sp>
        <p:nvSpPr>
          <p:cNvPr id="4" name="TextBox 3"/>
          <p:cNvSpPr txBox="1"/>
          <p:nvPr/>
        </p:nvSpPr>
        <p:spPr>
          <a:xfrm>
            <a:off x="548640" y="594360"/>
            <a:ext cx="11064240" cy="548640"/>
          </a:xfrm>
          <a:prstGeom prst="rect">
            <a:avLst/>
          </a:prstGeom>
          <a:noFill/>
        </p:spPr>
        <p:txBody>
          <a:bodyPr wrap="square">
            <a:spAutoFit/>
          </a:bodyPr>
          <a:lstStyle/>
          <a:p>
            <a:pPr>
              <a:defRPr sz="2400" b="1">
                <a:solidFill>
                  <a:srgbClr val="F8FAFC"/>
                </a:solidFill>
              </a:defRPr>
            </a:pPr>
            <a:r>
              <a:t>CI/CD Pipeline &amp; Container Security Scans</a:t>
            </a:r>
          </a:p>
        </p:txBody>
      </p:sp>
      <p:sp>
        <p:nvSpPr>
          <p:cNvPr id="5" name="Rectangle 4"/>
          <p:cNvSpPr/>
          <p:nvPr/>
        </p:nvSpPr>
        <p:spPr>
          <a:xfrm>
            <a:off x="548640" y="1188720"/>
            <a:ext cx="1109441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325880"/>
            <a:ext cx="3291840" cy="51206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463040"/>
            <a:ext cx="3017520" cy="4846320"/>
          </a:xfrm>
          <a:prstGeom prst="rect">
            <a:avLst/>
          </a:prstGeom>
          <a:noFill/>
        </p:spPr>
        <p:txBody>
          <a:bodyPr wrap="square">
            <a:spAutoFit/>
          </a:bodyPr>
          <a:lstStyle/>
          <a:p>
            <a:pPr>
              <a:defRPr sz="1300" b="1">
                <a:solidFill>
                  <a:srgbClr val="06B6D4"/>
                </a:solidFill>
              </a:defRPr>
            </a:pPr>
            <a:r>
              <a:t>Automated Pipeline</a:t>
            </a:r>
            <a:br/>
            <a:r>
              <a:rPr b="0" sz="1150">
                <a:solidFill>
                  <a:srgbClr val="F8FAFC"/>
                </a:solidFill>
              </a:rPr>
              <a:t>Triggered on push to `main` branch. Automates tests, builds, CVE scans, and image pushes.</a:t>
            </a:r>
          </a:p>
          <a:p>
            <a:pPr>
              <a:spcBef>
                <a:spcPts val="1800"/>
              </a:spcBef>
              <a:defRPr sz="1300" b="1">
                <a:solidFill>
                  <a:srgbClr val="06B6D4"/>
                </a:solidFill>
              </a:defRPr>
            </a:pPr>
            <a:r>
              <a:t>DevSecOps with Trivy</a:t>
            </a:r>
            <a:br/>
            <a:r>
              <a:rPr b="0" sz="1150">
                <a:solidFill>
                  <a:srgbClr val="F8FAFC"/>
                </a:solidFill>
              </a:rPr>
              <a:t>Vulnerability scans on backend &amp; frontend images. Configured to fail on HIGH/CRITICAL severity.</a:t>
            </a:r>
          </a:p>
          <a:p>
            <a:pPr>
              <a:spcBef>
                <a:spcPts val="1800"/>
              </a:spcBef>
              <a:defRPr sz="1300" b="1">
                <a:solidFill>
                  <a:srgbClr val="06B6D4"/>
                </a:solidFill>
              </a:defRPr>
            </a:pPr>
            <a:r>
              <a:t>CVE Remediation</a:t>
            </a:r>
            <a:br/>
            <a:r>
              <a:rPr b="0" sz="1150">
                <a:solidFill>
                  <a:srgbClr val="F8FAFC"/>
                </a:solidFill>
              </a:rPr>
              <a:t>Patched Starlette CVE (upgraded to 0.45.3) and Alpine base vulnerabilities to achieve clean scans.</a:t>
            </a:r>
          </a:p>
          <a:p>
            <a:pPr>
              <a:spcBef>
                <a:spcPts val="1800"/>
              </a:spcBef>
              <a:defRPr sz="1300" b="1">
                <a:solidFill>
                  <a:srgbClr val="06B6D4"/>
                </a:solidFill>
              </a:defRPr>
            </a:pPr>
            <a:r>
              <a:t>Immutable SHA Tagging</a:t>
            </a:r>
            <a:br/>
            <a:r>
              <a:rPr b="0" sz="1150">
                <a:solidFill>
                  <a:srgbClr val="F8FAFC"/>
                </a:solidFill>
              </a:rPr>
              <a:t>Images published to GHCR tagged with Git commit SHA for full traceability and rollback capability.</a:t>
            </a:r>
          </a:p>
        </p:txBody>
      </p:sp>
      <p:pic>
        <p:nvPicPr>
          <p:cNvPr id="8" name="Picture 7" descr="04-github-actions-success.jpg"/>
          <p:cNvPicPr>
            <a:picLocks noChangeAspect="1"/>
          </p:cNvPicPr>
          <p:nvPr/>
        </p:nvPicPr>
        <p:blipFill>
          <a:blip r:embed="rId2"/>
          <a:stretch>
            <a:fillRect/>
          </a:stretch>
        </p:blipFill>
        <p:spPr>
          <a:xfrm>
            <a:off x="3977639" y="1325880"/>
            <a:ext cx="7635240" cy="3789637"/>
          </a:xfrm>
          <a:prstGeom prst="rect">
            <a:avLst/>
          </a:prstGeom>
        </p:spPr>
      </p:pic>
      <p:sp>
        <p:nvSpPr>
          <p:cNvPr id="9" name="TextBox 8"/>
          <p:cNvSpPr txBox="1"/>
          <p:nvPr/>
        </p:nvSpPr>
        <p:spPr>
          <a:xfrm>
            <a:off x="3977639" y="6446520"/>
            <a:ext cx="7635240" cy="320040"/>
          </a:xfrm>
          <a:prstGeom prst="rect">
            <a:avLst/>
          </a:prstGeom>
          <a:noFill/>
        </p:spPr>
        <p:txBody>
          <a:bodyPr wrap="none">
            <a:spAutoFit/>
          </a:bodyPr>
          <a:lstStyle/>
          <a:p>
            <a:pPr algn="ctr">
              <a:defRPr sz="1000">
                <a:solidFill>
                  <a:srgbClr val="94A3B8"/>
                </a:solidFill>
              </a:defRPr>
            </a:pPr>
            <a:r>
              <a:t>GitHub Actions workflow runs passing all build, test, and security jobs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7315200" cy="320040"/>
          </a:xfrm>
          <a:prstGeom prst="rect">
            <a:avLst/>
          </a:prstGeom>
          <a:noFill/>
        </p:spPr>
        <p:txBody>
          <a:bodyPr wrap="square">
            <a:spAutoFit/>
          </a:bodyPr>
          <a:lstStyle/>
          <a:p>
            <a:pPr>
              <a:defRPr sz="1100" b="1">
                <a:solidFill>
                  <a:srgbClr val="06B6D4"/>
                </a:solidFill>
              </a:defRPr>
            </a:pPr>
            <a:r>
              <a:t>TERRAFORM CLOUD INFRASTRUCTURE</a:t>
            </a:r>
          </a:p>
        </p:txBody>
      </p:sp>
      <p:sp>
        <p:nvSpPr>
          <p:cNvPr id="4" name="TextBox 3"/>
          <p:cNvSpPr txBox="1"/>
          <p:nvPr/>
        </p:nvSpPr>
        <p:spPr>
          <a:xfrm>
            <a:off x="548640" y="594360"/>
            <a:ext cx="11064240" cy="548640"/>
          </a:xfrm>
          <a:prstGeom prst="rect">
            <a:avLst/>
          </a:prstGeom>
          <a:noFill/>
        </p:spPr>
        <p:txBody>
          <a:bodyPr wrap="square">
            <a:spAutoFit/>
          </a:bodyPr>
          <a:lstStyle/>
          <a:p>
            <a:pPr>
              <a:defRPr sz="2400" b="1">
                <a:solidFill>
                  <a:srgbClr val="F8FAFC"/>
                </a:solidFill>
              </a:defRPr>
            </a:pPr>
            <a:r>
              <a:t>Infrastructure as Code: AWS EKS &amp; VPC</a:t>
            </a:r>
          </a:p>
        </p:txBody>
      </p:sp>
      <p:sp>
        <p:nvSpPr>
          <p:cNvPr id="5" name="Rectangle 4"/>
          <p:cNvSpPr/>
          <p:nvPr/>
        </p:nvSpPr>
        <p:spPr>
          <a:xfrm>
            <a:off x="548640" y="1188720"/>
            <a:ext cx="1109441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325880"/>
            <a:ext cx="3291840" cy="51206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463040"/>
            <a:ext cx="3017520" cy="4846320"/>
          </a:xfrm>
          <a:prstGeom prst="rect">
            <a:avLst/>
          </a:prstGeom>
          <a:noFill/>
        </p:spPr>
        <p:txBody>
          <a:bodyPr wrap="square">
            <a:spAutoFit/>
          </a:bodyPr>
          <a:lstStyle/>
          <a:p>
            <a:pPr>
              <a:defRPr sz="1300" b="1">
                <a:solidFill>
                  <a:srgbClr val="06B6D4"/>
                </a:solidFill>
              </a:defRPr>
            </a:pPr>
            <a:r>
              <a:t>Terraform IaC</a:t>
            </a:r>
            <a:br/>
            <a:r>
              <a:rPr b="0" sz="1150">
                <a:solidFill>
                  <a:srgbClr val="F8FAFC"/>
                </a:solidFill>
              </a:rPr>
              <a:t>Declarative HCL scripts provisioning full AWS infrastructure in Sydney (`ap-southeast-2`).</a:t>
            </a:r>
          </a:p>
          <a:p>
            <a:pPr>
              <a:spcBef>
                <a:spcPts val="1800"/>
              </a:spcBef>
              <a:defRPr sz="1300" b="1">
                <a:solidFill>
                  <a:srgbClr val="06B6D4"/>
                </a:solidFill>
              </a:defRPr>
            </a:pPr>
            <a:r>
              <a:t>VPC &amp; Subnet Topology</a:t>
            </a:r>
            <a:br/>
            <a:r>
              <a:rPr b="0" sz="1150">
                <a:solidFill>
                  <a:srgbClr val="F8FAFC"/>
                </a:solidFill>
              </a:rPr>
              <a:t>Custom VPC with multi-AZ public and private subnets, internet gateways, and routing tables.</a:t>
            </a:r>
          </a:p>
          <a:p>
            <a:pPr>
              <a:spcBef>
                <a:spcPts val="1800"/>
              </a:spcBef>
              <a:defRPr sz="1300" b="1">
                <a:solidFill>
                  <a:srgbClr val="06B6D4"/>
                </a:solidFill>
              </a:defRPr>
            </a:pPr>
            <a:r>
              <a:t>Managed EKS Cluster</a:t>
            </a:r>
            <a:br/>
            <a:r>
              <a:rPr b="0" sz="1150">
                <a:solidFill>
                  <a:srgbClr val="F8FAFC"/>
                </a:solidFill>
              </a:rPr>
              <a:t>Kubernetes cluster with managed EC2 `t3.small` worker nodes configured for cost-efficiency.</a:t>
            </a:r>
          </a:p>
          <a:p>
            <a:pPr>
              <a:spcBef>
                <a:spcPts val="1800"/>
              </a:spcBef>
              <a:defRPr sz="1300" b="1">
                <a:solidFill>
                  <a:srgbClr val="06B6D4"/>
                </a:solidFill>
              </a:defRPr>
            </a:pPr>
            <a:r>
              <a:t>Enterprise SCP Compliance</a:t>
            </a:r>
            <a:br/>
            <a:r>
              <a:rPr b="0" sz="1150">
                <a:solidFill>
                  <a:srgbClr val="F8FAFC"/>
                </a:solidFill>
              </a:rPr>
              <a:t>Configured `enable_irsa = false` and clean IAM roles to satisfy strict cloud boundary permissions.</a:t>
            </a:r>
          </a:p>
        </p:txBody>
      </p:sp>
      <p:pic>
        <p:nvPicPr>
          <p:cNvPr id="8" name="Picture 7" descr="07-aws-eks-console.jpg"/>
          <p:cNvPicPr>
            <a:picLocks noChangeAspect="1"/>
          </p:cNvPicPr>
          <p:nvPr/>
        </p:nvPicPr>
        <p:blipFill>
          <a:blip r:embed="rId2"/>
          <a:stretch>
            <a:fillRect/>
          </a:stretch>
        </p:blipFill>
        <p:spPr>
          <a:xfrm>
            <a:off x="3977639" y="1325880"/>
            <a:ext cx="7635240" cy="2828898"/>
          </a:xfrm>
          <a:prstGeom prst="rect">
            <a:avLst/>
          </a:prstGeom>
        </p:spPr>
      </p:pic>
      <p:sp>
        <p:nvSpPr>
          <p:cNvPr id="9" name="TextBox 8"/>
          <p:cNvSpPr txBox="1"/>
          <p:nvPr/>
        </p:nvSpPr>
        <p:spPr>
          <a:xfrm>
            <a:off x="3977639" y="6446520"/>
            <a:ext cx="7635240" cy="320040"/>
          </a:xfrm>
          <a:prstGeom prst="rect">
            <a:avLst/>
          </a:prstGeom>
          <a:noFill/>
        </p:spPr>
        <p:txBody>
          <a:bodyPr wrap="none">
            <a:spAutoFit/>
          </a:bodyPr>
          <a:lstStyle/>
          <a:p>
            <a:pPr algn="ctr">
              <a:defRPr sz="1000">
                <a:solidFill>
                  <a:srgbClr val="94A3B8"/>
                </a:solidFill>
              </a:defRPr>
            </a:pPr>
            <a:r>
              <a:t>AWS EKS Management Console confirming active taskboard-eks cluster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7315200" cy="320040"/>
          </a:xfrm>
          <a:prstGeom prst="rect">
            <a:avLst/>
          </a:prstGeom>
          <a:noFill/>
        </p:spPr>
        <p:txBody>
          <a:bodyPr wrap="square">
            <a:spAutoFit/>
          </a:bodyPr>
          <a:lstStyle/>
          <a:p>
            <a:pPr>
              <a:defRPr sz="1100" b="1">
                <a:solidFill>
                  <a:srgbClr val="06B6D4"/>
                </a:solidFill>
              </a:defRPr>
            </a:pPr>
            <a:r>
              <a:t>PRODUCTION WORKLOADS &amp; ROUTING</a:t>
            </a:r>
          </a:p>
        </p:txBody>
      </p:sp>
      <p:sp>
        <p:nvSpPr>
          <p:cNvPr id="4" name="TextBox 3"/>
          <p:cNvSpPr txBox="1"/>
          <p:nvPr/>
        </p:nvSpPr>
        <p:spPr>
          <a:xfrm>
            <a:off x="548640" y="594360"/>
            <a:ext cx="11064240" cy="548640"/>
          </a:xfrm>
          <a:prstGeom prst="rect">
            <a:avLst/>
          </a:prstGeom>
          <a:noFill/>
        </p:spPr>
        <p:txBody>
          <a:bodyPr wrap="square">
            <a:spAutoFit/>
          </a:bodyPr>
          <a:lstStyle/>
          <a:p>
            <a:pPr>
              <a:defRPr sz="2400" b="1">
                <a:solidFill>
                  <a:srgbClr val="F8FAFC"/>
                </a:solidFill>
              </a:defRPr>
            </a:pPr>
            <a:r>
              <a:t>Kubernetes Orchestration &amp; Helm Packaging</a:t>
            </a:r>
          </a:p>
        </p:txBody>
      </p:sp>
      <p:sp>
        <p:nvSpPr>
          <p:cNvPr id="5" name="Rectangle 4"/>
          <p:cNvSpPr/>
          <p:nvPr/>
        </p:nvSpPr>
        <p:spPr>
          <a:xfrm>
            <a:off x="548640" y="1188720"/>
            <a:ext cx="1109441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325880"/>
            <a:ext cx="3291840" cy="51206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463040"/>
            <a:ext cx="3017520" cy="4846320"/>
          </a:xfrm>
          <a:prstGeom prst="rect">
            <a:avLst/>
          </a:prstGeom>
          <a:noFill/>
        </p:spPr>
        <p:txBody>
          <a:bodyPr wrap="square">
            <a:spAutoFit/>
          </a:bodyPr>
          <a:lstStyle/>
          <a:p>
            <a:pPr>
              <a:defRPr sz="1300" b="1">
                <a:solidFill>
                  <a:srgbClr val="06B6D4"/>
                </a:solidFill>
              </a:defRPr>
            </a:pPr>
            <a:r>
              <a:t>Helm Packaging</a:t>
            </a:r>
            <a:br/>
            <a:r>
              <a:rPr b="0" sz="1150">
                <a:solidFill>
                  <a:srgbClr val="F8FAFC"/>
                </a:solidFill>
              </a:rPr>
              <a:t>Clean templated Helm chart (`helm/taskboard`) managing Deployments, Services, Ingress, and HPA.</a:t>
            </a:r>
          </a:p>
          <a:p>
            <a:pPr>
              <a:spcBef>
                <a:spcPts val="1800"/>
              </a:spcBef>
              <a:defRPr sz="1300" b="1">
                <a:solidFill>
                  <a:srgbClr val="06B6D4"/>
                </a:solidFill>
              </a:defRPr>
            </a:pPr>
            <a:r>
              <a:t>High Availability</a:t>
            </a:r>
            <a:br/>
            <a:r>
              <a:rPr b="0" sz="1150">
                <a:solidFill>
                  <a:srgbClr val="F8FAFC"/>
                </a:solidFill>
              </a:rPr>
              <a:t>2x backend replicas and 2x frontend replicas deployed in isolated namespace `taskboard`.</a:t>
            </a:r>
          </a:p>
          <a:p>
            <a:pPr>
              <a:spcBef>
                <a:spcPts val="1800"/>
              </a:spcBef>
              <a:defRPr sz="1300" b="1">
                <a:solidFill>
                  <a:srgbClr val="06B6D4"/>
                </a:solidFill>
              </a:defRPr>
            </a:pPr>
            <a:r>
              <a:t>Ingress Traffic Routing</a:t>
            </a:r>
            <a:br/>
            <a:r>
              <a:rPr b="0" sz="1150">
                <a:solidFill>
                  <a:srgbClr val="F8FAFC"/>
                </a:solidFill>
              </a:rPr>
              <a:t>NGINX Ingress routing root path `/` to frontend and `/api` to backend microservice.</a:t>
            </a:r>
          </a:p>
          <a:p>
            <a:pPr>
              <a:spcBef>
                <a:spcPts val="1800"/>
              </a:spcBef>
              <a:defRPr sz="1300" b="1">
                <a:solidFill>
                  <a:srgbClr val="06B6D4"/>
                </a:solidFill>
              </a:defRPr>
            </a:pPr>
            <a:r>
              <a:t>Dynamic Autoscaling</a:t>
            </a:r>
            <a:br/>
            <a:r>
              <a:rPr b="0" sz="1150">
                <a:solidFill>
                  <a:srgbClr val="F8FAFC"/>
                </a:solidFill>
              </a:rPr>
              <a:t>HPA configured for CPU-based dynamic autoscaling under heavy user traffic loads.</a:t>
            </a:r>
          </a:p>
        </p:txBody>
      </p:sp>
      <p:pic>
        <p:nvPicPr>
          <p:cNvPr id="8" name="Picture 7" descr="10-kubectl-pods-running.jpg"/>
          <p:cNvPicPr>
            <a:picLocks noChangeAspect="1"/>
          </p:cNvPicPr>
          <p:nvPr/>
        </p:nvPicPr>
        <p:blipFill>
          <a:blip r:embed="rId2"/>
          <a:stretch>
            <a:fillRect/>
          </a:stretch>
        </p:blipFill>
        <p:spPr>
          <a:xfrm>
            <a:off x="3977639" y="1325880"/>
            <a:ext cx="7635240" cy="1365700"/>
          </a:xfrm>
          <a:prstGeom prst="rect">
            <a:avLst/>
          </a:prstGeom>
        </p:spPr>
      </p:pic>
      <p:sp>
        <p:nvSpPr>
          <p:cNvPr id="9" name="TextBox 8"/>
          <p:cNvSpPr txBox="1"/>
          <p:nvPr/>
        </p:nvSpPr>
        <p:spPr>
          <a:xfrm>
            <a:off x="3977639" y="6446520"/>
            <a:ext cx="7635240" cy="320040"/>
          </a:xfrm>
          <a:prstGeom prst="rect">
            <a:avLst/>
          </a:prstGeom>
          <a:noFill/>
        </p:spPr>
        <p:txBody>
          <a:bodyPr wrap="none">
            <a:spAutoFit/>
          </a:bodyPr>
          <a:lstStyle/>
          <a:p>
            <a:pPr algn="ctr">
              <a:defRPr sz="1000">
                <a:solidFill>
                  <a:srgbClr val="94A3B8"/>
                </a:solidFill>
              </a:defRPr>
            </a:pPr>
            <a:r>
              <a:t>Kubectl output confirming all backend, frontend, and database pods Running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7315200" cy="320040"/>
          </a:xfrm>
          <a:prstGeom prst="rect">
            <a:avLst/>
          </a:prstGeom>
          <a:noFill/>
        </p:spPr>
        <p:txBody>
          <a:bodyPr wrap="square">
            <a:spAutoFit/>
          </a:bodyPr>
          <a:lstStyle/>
          <a:p>
            <a:pPr>
              <a:defRPr sz="1100" b="1">
                <a:solidFill>
                  <a:srgbClr val="06B6D4"/>
                </a:solidFill>
              </a:defRPr>
            </a:pPr>
            <a:r>
              <a:t>APPLICATION TELEMETRY &amp; SCRAPING</a:t>
            </a:r>
          </a:p>
        </p:txBody>
      </p:sp>
      <p:sp>
        <p:nvSpPr>
          <p:cNvPr id="4" name="TextBox 3"/>
          <p:cNvSpPr txBox="1"/>
          <p:nvPr/>
        </p:nvSpPr>
        <p:spPr>
          <a:xfrm>
            <a:off x="548640" y="594360"/>
            <a:ext cx="11064240" cy="548640"/>
          </a:xfrm>
          <a:prstGeom prst="rect">
            <a:avLst/>
          </a:prstGeom>
          <a:noFill/>
        </p:spPr>
        <p:txBody>
          <a:bodyPr wrap="square">
            <a:spAutoFit/>
          </a:bodyPr>
          <a:lstStyle/>
          <a:p>
            <a:pPr>
              <a:defRPr sz="2400" b="1">
                <a:solidFill>
                  <a:srgbClr val="F8FAFC"/>
                </a:solidFill>
              </a:defRPr>
            </a:pPr>
            <a:r>
              <a:t>Observability: Metrics Telemetry &amp; Prometheus</a:t>
            </a:r>
          </a:p>
        </p:txBody>
      </p:sp>
      <p:sp>
        <p:nvSpPr>
          <p:cNvPr id="5" name="Rectangle 4"/>
          <p:cNvSpPr/>
          <p:nvPr/>
        </p:nvSpPr>
        <p:spPr>
          <a:xfrm>
            <a:off x="548640" y="1188720"/>
            <a:ext cx="1109441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325880"/>
            <a:ext cx="3291840" cy="51206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463040"/>
            <a:ext cx="3017520" cy="4846320"/>
          </a:xfrm>
          <a:prstGeom prst="rect">
            <a:avLst/>
          </a:prstGeom>
          <a:noFill/>
        </p:spPr>
        <p:txBody>
          <a:bodyPr wrap="square">
            <a:spAutoFit/>
          </a:bodyPr>
          <a:lstStyle/>
          <a:p>
            <a:pPr>
              <a:defRPr sz="1300" b="1">
                <a:solidFill>
                  <a:srgbClr val="06B6D4"/>
                </a:solidFill>
              </a:defRPr>
            </a:pPr>
            <a:r>
              <a:t>Metrics Instrumentation</a:t>
            </a:r>
            <a:br/>
            <a:r>
              <a:rPr b="0" sz="1150">
                <a:solidFill>
                  <a:srgbClr val="F8FAFC"/>
                </a:solidFill>
              </a:rPr>
              <a:t>FastAPI instrumented with `prometheus-fastapi-instrumentator` exposing `/metrics`.</a:t>
            </a:r>
          </a:p>
          <a:p>
            <a:pPr>
              <a:spcBef>
                <a:spcPts val="1800"/>
              </a:spcBef>
              <a:defRPr sz="1300" b="1">
                <a:solidFill>
                  <a:srgbClr val="06B6D4"/>
                </a:solidFill>
              </a:defRPr>
            </a:pPr>
            <a:r>
              <a:t>Telemetry Captured</a:t>
            </a:r>
            <a:br/>
            <a:r>
              <a:rPr b="0" sz="1150">
                <a:solidFill>
                  <a:srgbClr val="F8FAFC"/>
                </a:solidFill>
              </a:rPr>
              <a:t>Request rates, response duration histograms, process CPU, and memory utilization.</a:t>
            </a:r>
          </a:p>
          <a:p>
            <a:pPr>
              <a:spcBef>
                <a:spcPts val="1800"/>
              </a:spcBef>
              <a:defRPr sz="1300" b="1">
                <a:solidFill>
                  <a:srgbClr val="06B6D4"/>
                </a:solidFill>
              </a:defRPr>
            </a:pPr>
            <a:r>
              <a:t>Prometheus Discovery</a:t>
            </a:r>
            <a:br/>
            <a:r>
              <a:rPr b="0" sz="1150">
                <a:solidFill>
                  <a:srgbClr val="F8FAFC"/>
                </a:solidFill>
              </a:rPr>
              <a:t>Continuous automated scrape every 5s discovering `taskboard-backend`.</a:t>
            </a:r>
          </a:p>
          <a:p>
            <a:pPr>
              <a:spcBef>
                <a:spcPts val="1800"/>
              </a:spcBef>
              <a:defRPr sz="1300" b="1">
                <a:solidFill>
                  <a:srgbClr val="06B6D4"/>
                </a:solidFill>
              </a:defRPr>
            </a:pPr>
            <a:r>
              <a:t>Target Health Verified</a:t>
            </a:r>
            <a:br/>
            <a:r>
              <a:rPr b="0" sz="1150">
                <a:solidFill>
                  <a:srgbClr val="F8FAFC"/>
                </a:solidFill>
              </a:rPr>
              <a:t>Prometheus UI shows 100% active targets in `UP` state with zero scrape errors.</a:t>
            </a:r>
          </a:p>
        </p:txBody>
      </p:sp>
      <p:pic>
        <p:nvPicPr>
          <p:cNvPr id="8" name="Picture 7" descr="15-prometheus-targets-01.jpg"/>
          <p:cNvPicPr>
            <a:picLocks noChangeAspect="1"/>
          </p:cNvPicPr>
          <p:nvPr/>
        </p:nvPicPr>
        <p:blipFill>
          <a:blip r:embed="rId2"/>
          <a:stretch>
            <a:fillRect/>
          </a:stretch>
        </p:blipFill>
        <p:spPr>
          <a:xfrm>
            <a:off x="3977639" y="1325880"/>
            <a:ext cx="7635240" cy="4134751"/>
          </a:xfrm>
          <a:prstGeom prst="rect">
            <a:avLst/>
          </a:prstGeom>
        </p:spPr>
      </p:pic>
      <p:sp>
        <p:nvSpPr>
          <p:cNvPr id="9" name="TextBox 8"/>
          <p:cNvSpPr txBox="1"/>
          <p:nvPr/>
        </p:nvSpPr>
        <p:spPr>
          <a:xfrm>
            <a:off x="3977639" y="6446520"/>
            <a:ext cx="7635240" cy="320040"/>
          </a:xfrm>
          <a:prstGeom prst="rect">
            <a:avLst/>
          </a:prstGeom>
          <a:noFill/>
        </p:spPr>
        <p:txBody>
          <a:bodyPr wrap="none">
            <a:spAutoFit/>
          </a:bodyPr>
          <a:lstStyle/>
          <a:p>
            <a:pPr algn="ctr">
              <a:defRPr sz="1000">
                <a:solidFill>
                  <a:srgbClr val="94A3B8"/>
                </a:solidFill>
              </a:defRPr>
            </a:pPr>
            <a:r>
              <a:t>Prometheus Targets UI showing taskboard-backend endpoint healthy and UP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7315200" cy="320040"/>
          </a:xfrm>
          <a:prstGeom prst="rect">
            <a:avLst/>
          </a:prstGeom>
          <a:noFill/>
        </p:spPr>
        <p:txBody>
          <a:bodyPr wrap="square">
            <a:spAutoFit/>
          </a:bodyPr>
          <a:lstStyle/>
          <a:p>
            <a:pPr>
              <a:defRPr sz="1100" b="1">
                <a:solidFill>
                  <a:srgbClr val="06B6D4"/>
                </a:solidFill>
              </a:defRPr>
            </a:pPr>
            <a:r>
              <a:t>REAL-TIME VISUAL OPERATIONS</a:t>
            </a:r>
          </a:p>
        </p:txBody>
      </p:sp>
      <p:sp>
        <p:nvSpPr>
          <p:cNvPr id="4" name="TextBox 3"/>
          <p:cNvSpPr txBox="1"/>
          <p:nvPr/>
        </p:nvSpPr>
        <p:spPr>
          <a:xfrm>
            <a:off x="548640" y="594360"/>
            <a:ext cx="11064240" cy="548640"/>
          </a:xfrm>
          <a:prstGeom prst="rect">
            <a:avLst/>
          </a:prstGeom>
          <a:noFill/>
        </p:spPr>
        <p:txBody>
          <a:bodyPr wrap="square">
            <a:spAutoFit/>
          </a:bodyPr>
          <a:lstStyle/>
          <a:p>
            <a:pPr>
              <a:defRPr sz="2400" b="1">
                <a:solidFill>
                  <a:srgbClr val="F8FAFC"/>
                </a:solidFill>
              </a:defRPr>
            </a:pPr>
            <a:r>
              <a:t>Executive Telemetry Dashboard (Grafana)</a:t>
            </a:r>
          </a:p>
        </p:txBody>
      </p:sp>
      <p:sp>
        <p:nvSpPr>
          <p:cNvPr id="5" name="Rectangle 4"/>
          <p:cNvSpPr/>
          <p:nvPr/>
        </p:nvSpPr>
        <p:spPr>
          <a:xfrm>
            <a:off x="548640" y="1188720"/>
            <a:ext cx="1109441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325880"/>
            <a:ext cx="3291840" cy="51206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463040"/>
            <a:ext cx="3017520" cy="4846320"/>
          </a:xfrm>
          <a:prstGeom prst="rect">
            <a:avLst/>
          </a:prstGeom>
          <a:noFill/>
        </p:spPr>
        <p:txBody>
          <a:bodyPr wrap="square">
            <a:spAutoFit/>
          </a:bodyPr>
          <a:lstStyle/>
          <a:p>
            <a:pPr>
              <a:defRPr sz="1300" b="1">
                <a:solidFill>
                  <a:srgbClr val="06B6D4"/>
                </a:solidFill>
              </a:defRPr>
            </a:pPr>
            <a:r>
              <a:t>p95 Response Latency</a:t>
            </a:r>
            <a:br/>
            <a:r>
              <a:rPr b="0" sz="1150">
                <a:solidFill>
                  <a:srgbClr val="F8FAFC"/>
                </a:solidFill>
              </a:rPr>
              <a:t>Radial gauge tracking 95th-percentile response time (`95 ms`) with green/orange/red SLA markers.</a:t>
            </a:r>
          </a:p>
          <a:p>
            <a:pPr>
              <a:spcBef>
                <a:spcPts val="1800"/>
              </a:spcBef>
              <a:defRPr sz="1300" b="1">
                <a:solidFill>
                  <a:srgbClr val="06B6D4"/>
                </a:solidFill>
              </a:defRPr>
            </a:pPr>
            <a:r>
              <a:t>Total API Requests</a:t>
            </a:r>
            <a:br/>
            <a:r>
              <a:rPr b="0" sz="1150">
                <a:solidFill>
                  <a:srgbClr val="F8FAFC"/>
                </a:solidFill>
              </a:rPr>
              <a:t>Live KPI stat card showing total processed requests (`324`) with an area trend sparkline.</a:t>
            </a:r>
          </a:p>
          <a:p>
            <a:pPr>
              <a:spcBef>
                <a:spcPts val="1800"/>
              </a:spcBef>
              <a:defRPr sz="1300" b="1">
                <a:solidFill>
                  <a:srgbClr val="06B6D4"/>
                </a:solidFill>
              </a:defRPr>
            </a:pPr>
            <a:r>
              <a:t>Status Code Breakdown</a:t>
            </a:r>
            <a:br/>
            <a:r>
              <a:rPr b="0" sz="1150">
                <a:solidFill>
                  <a:srgbClr val="F8FAFC"/>
                </a:solidFill>
              </a:rPr>
              <a:t>Donut chart detailing HTTP 2xx (100%) vs 4xx/5xx error rates with table metrics.</a:t>
            </a:r>
          </a:p>
          <a:p>
            <a:pPr>
              <a:spcBef>
                <a:spcPts val="1800"/>
              </a:spcBef>
              <a:defRPr sz="1300" b="1">
                <a:solidFill>
                  <a:srgbClr val="06B6D4"/>
                </a:solidFill>
              </a:defRPr>
            </a:pPr>
            <a:r>
              <a:t>Throughput by Endpoint</a:t>
            </a:r>
            <a:br/>
            <a:r>
              <a:rPr b="0" sz="1150">
                <a:solidFill>
                  <a:srgbClr val="F8FAFC"/>
                </a:solidFill>
              </a:rPr>
              <a:t>Multi-route time-series graph visualizing request rates across `/api/tasks`, `/health`, `/metrics`.</a:t>
            </a:r>
          </a:p>
          <a:p>
            <a:pPr>
              <a:spcBef>
                <a:spcPts val="1800"/>
              </a:spcBef>
              <a:defRPr sz="1300" b="1">
                <a:solidFill>
                  <a:srgbClr val="06B6D4"/>
                </a:solidFill>
              </a:defRPr>
            </a:pPr>
            <a:r>
              <a:t>Infrastructure as Code</a:t>
            </a:r>
            <a:br/>
            <a:r>
              <a:rPr b="0" sz="1150">
                <a:solidFill>
                  <a:srgbClr val="F8FAFC"/>
                </a:solidFill>
              </a:rPr>
              <a:t>Dashboard auto-provisioned automatically via Helm ConfigMap and Docker provisioning.</a:t>
            </a:r>
          </a:p>
        </p:txBody>
      </p:sp>
      <p:pic>
        <p:nvPicPr>
          <p:cNvPr id="8" name="Picture 7" descr="16-grafana-dashboard-remake.jpg"/>
          <p:cNvPicPr>
            <a:picLocks noChangeAspect="1"/>
          </p:cNvPicPr>
          <p:nvPr/>
        </p:nvPicPr>
        <p:blipFill>
          <a:blip r:embed="rId2"/>
          <a:stretch>
            <a:fillRect/>
          </a:stretch>
        </p:blipFill>
        <p:spPr>
          <a:xfrm>
            <a:off x="3977639" y="1325880"/>
            <a:ext cx="7635240" cy="3767886"/>
          </a:xfrm>
          <a:prstGeom prst="rect">
            <a:avLst/>
          </a:prstGeom>
        </p:spPr>
      </p:pic>
      <p:sp>
        <p:nvSpPr>
          <p:cNvPr id="9" name="TextBox 8"/>
          <p:cNvSpPr txBox="1"/>
          <p:nvPr/>
        </p:nvSpPr>
        <p:spPr>
          <a:xfrm>
            <a:off x="3977639" y="6446520"/>
            <a:ext cx="7635240" cy="320040"/>
          </a:xfrm>
          <a:prstGeom prst="rect">
            <a:avLst/>
          </a:prstGeom>
          <a:noFill/>
        </p:spPr>
        <p:txBody>
          <a:bodyPr wrap="none">
            <a:spAutoFit/>
          </a:bodyPr>
          <a:lstStyle/>
          <a:p>
            <a:pPr algn="ctr">
              <a:defRPr sz="1000">
                <a:solidFill>
                  <a:srgbClr val="94A3B8"/>
                </a:solidFill>
              </a:defRPr>
            </a:pPr>
            <a:r>
              <a:t>TaskBoard Executive Telemetry Dashboard featuring real-time multi-panel telemetry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7315200" cy="320040"/>
          </a:xfrm>
          <a:prstGeom prst="rect">
            <a:avLst/>
          </a:prstGeom>
          <a:noFill/>
        </p:spPr>
        <p:txBody>
          <a:bodyPr wrap="square">
            <a:spAutoFit/>
          </a:bodyPr>
          <a:lstStyle/>
          <a:p>
            <a:pPr>
              <a:defRPr sz="1100" b="1">
                <a:solidFill>
                  <a:srgbClr val="06B6D4"/>
                </a:solidFill>
              </a:defRPr>
            </a:pPr>
            <a:r>
              <a:t>TECHNICAL INNOVATIONS &amp; PROBLEM-SOLVING</a:t>
            </a:r>
          </a:p>
        </p:txBody>
      </p:sp>
      <p:sp>
        <p:nvSpPr>
          <p:cNvPr id="4" name="TextBox 3"/>
          <p:cNvSpPr txBox="1"/>
          <p:nvPr/>
        </p:nvSpPr>
        <p:spPr>
          <a:xfrm>
            <a:off x="548640" y="594360"/>
            <a:ext cx="11064240" cy="548640"/>
          </a:xfrm>
          <a:prstGeom prst="rect">
            <a:avLst/>
          </a:prstGeom>
          <a:noFill/>
        </p:spPr>
        <p:txBody>
          <a:bodyPr wrap="square">
            <a:spAutoFit/>
          </a:bodyPr>
          <a:lstStyle/>
          <a:p>
            <a:pPr>
              <a:defRPr sz="2400" b="1">
                <a:solidFill>
                  <a:srgbClr val="F8FAFC"/>
                </a:solidFill>
              </a:defRPr>
            </a:pPr>
            <a:r>
              <a:t>Core Engineering Challenges &amp; Architecture Solutions</a:t>
            </a:r>
          </a:p>
        </p:txBody>
      </p:sp>
      <p:sp>
        <p:nvSpPr>
          <p:cNvPr id="5" name="Rectangle 4"/>
          <p:cNvSpPr/>
          <p:nvPr/>
        </p:nvSpPr>
        <p:spPr>
          <a:xfrm>
            <a:off x="548640" y="1188720"/>
            <a:ext cx="1109441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371600"/>
            <a:ext cx="11094415" cy="15087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481328"/>
            <a:ext cx="10637215" cy="1289304"/>
          </a:xfrm>
          <a:prstGeom prst="rect">
            <a:avLst/>
          </a:prstGeom>
          <a:noFill/>
        </p:spPr>
        <p:txBody>
          <a:bodyPr wrap="square">
            <a:spAutoFit/>
          </a:bodyPr>
          <a:lstStyle/>
          <a:p>
            <a:pPr>
              <a:defRPr sz="1300" b="1">
                <a:solidFill>
                  <a:srgbClr val="06B6D4"/>
                </a:solidFill>
              </a:defRPr>
            </a:pPr>
            <a:r>
              <a:t>1. PostgreSQL Initialization Race Condition Resolution (Zero Boot Failure)</a:t>
            </a:r>
            <a:br/>
            <a:r>
              <a:rPr b="0" sz="1100">
                <a:solidFill>
                  <a:srgbClr val="F8FAFC"/>
                </a:solidFill>
              </a:rPr>
              <a:t>In multi-container stacks, Docker flags dependent containers as 'Started' upon process spawn before PostgreSQL finishes creating cluster files and opens TCP port 5432. This caused intermittent psycopg.OperationalError: connection refused crashes during initial Alembic migrations. Resolved by implementing a native Docker container TCP healthcheck (pg_isready -U taskboard) paired with condition: service_healthy, ensuring guaranteed deterministic startup across local and CI environments.</a:t>
            </a:r>
          </a:p>
        </p:txBody>
      </p:sp>
      <p:sp>
        <p:nvSpPr>
          <p:cNvPr id="8" name="Rounded Rectangle 7"/>
          <p:cNvSpPr/>
          <p:nvPr/>
        </p:nvSpPr>
        <p:spPr>
          <a:xfrm>
            <a:off x="548640" y="3063240"/>
            <a:ext cx="11094415" cy="15087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172968"/>
            <a:ext cx="10637215" cy="1289304"/>
          </a:xfrm>
          <a:prstGeom prst="rect">
            <a:avLst/>
          </a:prstGeom>
          <a:noFill/>
        </p:spPr>
        <p:txBody>
          <a:bodyPr wrap="square">
            <a:spAutoFit/>
          </a:bodyPr>
          <a:lstStyle/>
          <a:p>
            <a:pPr>
              <a:defRPr sz="1300" b="1">
                <a:solidFill>
                  <a:srgbClr val="06B6D4"/>
                </a:solidFill>
              </a:defRPr>
            </a:pPr>
            <a:r>
              <a:t>2. Proactive DevSecOps &amp; Container CVE Remediation</a:t>
            </a:r>
            <a:br/>
            <a:r>
              <a:rPr b="0" sz="1100">
                <a:solidFill>
                  <a:srgbClr val="F8FAFC"/>
                </a:solidFill>
              </a:rPr>
              <a:t>Standard container base images and dependencies often harbor latent vulnerabilities. Integrated Trivy vulnerability scanning directly into the GitHub Actions CI pipeline, enforcing automated build failures on HIGH or CRITICAL CVEs. Remediated Starlette CVEs by upgrading the dependency to 0.45.3 and hardened Alpine base runtime packages, producing clean, production-grade container artifacts published to GHCR with immutable Git commit SHA tags.</a:t>
            </a:r>
          </a:p>
        </p:txBody>
      </p:sp>
      <p:sp>
        <p:nvSpPr>
          <p:cNvPr id="10" name="Rounded Rectangle 9"/>
          <p:cNvSpPr/>
          <p:nvPr/>
        </p:nvSpPr>
        <p:spPr>
          <a:xfrm>
            <a:off x="548640" y="4754880"/>
            <a:ext cx="11094415" cy="15087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864608"/>
            <a:ext cx="10637215" cy="1289304"/>
          </a:xfrm>
          <a:prstGeom prst="rect">
            <a:avLst/>
          </a:prstGeom>
          <a:noFill/>
        </p:spPr>
        <p:txBody>
          <a:bodyPr wrap="square">
            <a:spAutoFit/>
          </a:bodyPr>
          <a:lstStyle/>
          <a:p>
            <a:pPr>
              <a:defRPr sz="1300" b="1">
                <a:solidFill>
                  <a:srgbClr val="06B6D4"/>
                </a:solidFill>
              </a:defRPr>
            </a:pPr>
            <a:r>
              <a:t>3. Universal GitOps Dashboard Provisioning (Docker + Kubernetes Parity)</a:t>
            </a:r>
            <a:br/>
            <a:r>
              <a:rPr b="0" sz="1100">
                <a:solidFill>
                  <a:srgbClr val="F8FAFC"/>
                </a:solidFill>
              </a:rPr>
              <a:t>Custom telemetry dashboards created via Grafana UI are typically stored in transient container storage, risking missing metrics when evaluated on clean machines. Engineered a GitOps dashboard-as-code strategy: Docker Compose mounts automated provisioning configs, while the Helm chart deploys the dashboard JSON as a Kubernetes ConfigMap labeled grafana_dashboard: '1', auto-discovered by the Grafana sidecar on AWS EKS without manual intervention.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7315200" cy="320040"/>
          </a:xfrm>
          <a:prstGeom prst="rect">
            <a:avLst/>
          </a:prstGeom>
          <a:noFill/>
        </p:spPr>
        <p:txBody>
          <a:bodyPr wrap="square">
            <a:spAutoFit/>
          </a:bodyPr>
          <a:lstStyle/>
          <a:p>
            <a:pPr>
              <a:defRPr sz="1100" b="1">
                <a:solidFill>
                  <a:srgbClr val="06B6D4"/>
                </a:solidFill>
              </a:defRPr>
            </a:pPr>
            <a:r>
              <a:t>CLOUD GOVERNANCE &amp; PRODUCTION READINESS</a:t>
            </a:r>
          </a:p>
        </p:txBody>
      </p:sp>
      <p:sp>
        <p:nvSpPr>
          <p:cNvPr id="4" name="TextBox 3"/>
          <p:cNvSpPr txBox="1"/>
          <p:nvPr/>
        </p:nvSpPr>
        <p:spPr>
          <a:xfrm>
            <a:off x="548640" y="594360"/>
            <a:ext cx="11064240" cy="548640"/>
          </a:xfrm>
          <a:prstGeom prst="rect">
            <a:avLst/>
          </a:prstGeom>
          <a:noFill/>
        </p:spPr>
        <p:txBody>
          <a:bodyPr wrap="square">
            <a:spAutoFit/>
          </a:bodyPr>
          <a:lstStyle/>
          <a:p>
            <a:pPr>
              <a:defRPr sz="2400" b="1">
                <a:solidFill>
                  <a:srgbClr val="F8FAFC"/>
                </a:solidFill>
              </a:defRPr>
            </a:pPr>
            <a:r>
              <a:t>Cloud Governance, Resilience &amp; Capstone Takeaways</a:t>
            </a:r>
          </a:p>
        </p:txBody>
      </p:sp>
      <p:sp>
        <p:nvSpPr>
          <p:cNvPr id="5" name="Rectangle 4"/>
          <p:cNvSpPr/>
          <p:nvPr/>
        </p:nvSpPr>
        <p:spPr>
          <a:xfrm>
            <a:off x="548640" y="1188720"/>
            <a:ext cx="1109441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371600"/>
            <a:ext cx="11094415" cy="15087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481328"/>
            <a:ext cx="10637215" cy="1289304"/>
          </a:xfrm>
          <a:prstGeom prst="rect">
            <a:avLst/>
          </a:prstGeom>
          <a:noFill/>
        </p:spPr>
        <p:txBody>
          <a:bodyPr wrap="square">
            <a:spAutoFit/>
          </a:bodyPr>
          <a:lstStyle/>
          <a:p>
            <a:pPr>
              <a:defRPr sz="1300" b="1">
                <a:solidFill>
                  <a:srgbClr val="06B6D4"/>
                </a:solidFill>
              </a:defRPr>
            </a:pPr>
            <a:r>
              <a:t>1. Cloud Financial Governance &amp; Verified Teardown ($0.00 Cost Leak)</a:t>
            </a:r>
            <a:br/>
            <a:r>
              <a:rPr b="0" sz="1100">
                <a:solidFill>
                  <a:srgbClr val="F8FAFC"/>
                </a:solidFill>
              </a:rPr>
              <a:t>Managed cloud environments (EKS Control Plane, EC2 Worker Nodes, NAT Gateways, ELBs) incur continuous hourly infrastructure charges. Enforced strict Infrastructure-as-Code lifecycle management using Terraform. Following verified deployment testing and screenshot capture, executed an automated terraform destroy -auto-approve and verified zero remaining resources via the AWS CLI (ResourceNotFoundException), completely protecting cloud budgets.</a:t>
            </a:r>
          </a:p>
        </p:txBody>
      </p:sp>
      <p:sp>
        <p:nvSpPr>
          <p:cNvPr id="8" name="Rounded Rectangle 7"/>
          <p:cNvSpPr/>
          <p:nvPr/>
        </p:nvSpPr>
        <p:spPr>
          <a:xfrm>
            <a:off x="548640" y="3063240"/>
            <a:ext cx="11094415" cy="15087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172968"/>
            <a:ext cx="10637215" cy="1289304"/>
          </a:xfrm>
          <a:prstGeom prst="rect">
            <a:avLst/>
          </a:prstGeom>
          <a:noFill/>
        </p:spPr>
        <p:txBody>
          <a:bodyPr wrap="square">
            <a:spAutoFit/>
          </a:bodyPr>
          <a:lstStyle/>
          <a:p>
            <a:pPr>
              <a:defRPr sz="1300" b="1">
                <a:solidFill>
                  <a:srgbClr val="06B6D4"/>
                </a:solidFill>
              </a:defRPr>
            </a:pPr>
            <a:r>
              <a:t>2. Enterprise Kubernetes High Availability &amp; Dynamic Autoscaling</a:t>
            </a:r>
            <a:br/>
            <a:r>
              <a:rPr b="0" sz="1100">
                <a:solidFill>
                  <a:srgbClr val="F8FAFC"/>
                </a:solidFill>
              </a:rPr>
              <a:t>Packaged the microservice architecture into a modular Helm chart (helm/taskboard) featuring dual-replica backend and frontend deployments in dedicated namespace taskboard. Configured NGINX Ingress path-based routing (/ to React frontend, /api to FastAPI backend) and enabled Horizontal Pod Autoscaling (HPA) to automatically scale worker pods under dynamic CPU load thresholds.</a:t>
            </a:r>
          </a:p>
        </p:txBody>
      </p:sp>
      <p:sp>
        <p:nvSpPr>
          <p:cNvPr id="10" name="Rounded Rectangle 9"/>
          <p:cNvSpPr/>
          <p:nvPr/>
        </p:nvSpPr>
        <p:spPr>
          <a:xfrm>
            <a:off x="548640" y="4754880"/>
            <a:ext cx="11094415" cy="15087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864608"/>
            <a:ext cx="10637215" cy="1289304"/>
          </a:xfrm>
          <a:prstGeom prst="rect">
            <a:avLst/>
          </a:prstGeom>
          <a:noFill/>
        </p:spPr>
        <p:txBody>
          <a:bodyPr wrap="square">
            <a:spAutoFit/>
          </a:bodyPr>
          <a:lstStyle/>
          <a:p>
            <a:pPr>
              <a:defRPr sz="1300" b="1">
                <a:solidFill>
                  <a:srgbClr val="06B6D4"/>
                </a:solidFill>
              </a:defRPr>
            </a:pPr>
            <a:r>
              <a:t>3. End-to-End Enterprise DevOps Delivery Pipeline</a:t>
            </a:r>
            <a:br/>
            <a:r>
              <a:rPr b="0" sz="1100">
                <a:solidFill>
                  <a:srgbClr val="F8FAFC"/>
                </a:solidFill>
              </a:rPr>
              <a:t>Successfully unified all isolated phases of modern software delivery—development, automated testing, containerization, DevSecOps scanning, cloud infrastructure provisioning, Kubernetes orchestration, and observability—into a reproducible, production-grade engineering workflow with complete auditability.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